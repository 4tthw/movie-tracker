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6" autoAdjust="0"/>
    <p:restoredTop sz="94660"/>
  </p:normalViewPr>
  <p:slideViewPr>
    <p:cSldViewPr snapToGrid="0">
      <p:cViewPr varScale="1">
        <p:scale>
          <a:sx n="98" d="100"/>
          <a:sy n="98" d="100"/>
        </p:scale>
        <p:origin x="69" y="6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E8D0355-40E0-45D8-DCE9-A0E26D8D2B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569F162-B2FC-1087-C657-1675610C2C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C80748E-80B0-7597-F27E-9A27C5C9CD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C173D-B0B2-4EB1-9B71-17C25D91B766}" type="datetimeFigureOut">
              <a:rPr lang="ru-RU" smtClean="0"/>
              <a:t>17.06.2026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19DE5DF-38EC-7629-A580-22C381AFDA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EC61EFC-A7E2-6E0B-90F7-D6F02DC3D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F8A10E-8FBC-4EF6-A397-1FC8CF895F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18404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7E50361-F010-EFEF-9E5E-1892F22236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FC80352-7B1C-6172-66A9-8CBC765410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5CAEACC-68A6-2C46-0AFD-EA1DEBAC30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C173D-B0B2-4EB1-9B71-17C25D91B766}" type="datetimeFigureOut">
              <a:rPr lang="ru-RU" smtClean="0"/>
              <a:t>17.06.2026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C5303C5-0B5F-DAF8-3BF4-F2DA030124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813465D-AFDD-9498-B240-720A8E8468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F8A10E-8FBC-4EF6-A397-1FC8CF895F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30556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8144E9-C82D-C287-4738-A78BE81FE7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8AB7443-A146-3142-44F0-8D939CB6BB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DBD0400-CA05-C70A-A2DD-F557240E3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C173D-B0B2-4EB1-9B71-17C25D91B766}" type="datetimeFigureOut">
              <a:rPr lang="ru-RU" smtClean="0"/>
              <a:t>17.06.2026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58063E7-202C-28B3-3486-3271BB4442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D33C194-0931-5A27-A3C5-14916BA8D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F8A10E-8FBC-4EF6-A397-1FC8CF895F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079257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EFAFE2-EDF5-232E-C653-01B16BAE7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6668349-B9B4-9655-590D-806B01FB27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73C40F4-CAA1-38E0-2725-C3D144872B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52C4493-CFCE-4E99-77EB-DE43433FAC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C173D-B0B2-4EB1-9B71-17C25D91B766}" type="datetimeFigureOut">
              <a:rPr lang="ru-RU" smtClean="0"/>
              <a:t>17.06.2026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C661F77-A884-230F-81F1-7FB9090B8F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9A5A99D-9412-A007-77E3-DA3DA0ED2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F8A10E-8FBC-4EF6-A397-1FC8CF895F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13898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F597F7-B750-EF10-6EFE-9CEED3CB7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EED011C-C487-8984-E45E-7BABD3F982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AB66EC6-4AE6-D0ED-D263-FF207E76BF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F6510672-8257-1955-EB46-12EC507E3E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2E2DBAB0-34EE-F3FB-3E7B-A9CEEBB5D8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65455DF4-C57C-B7B6-C458-37634E2597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C173D-B0B2-4EB1-9B71-17C25D91B766}" type="datetimeFigureOut">
              <a:rPr lang="ru-RU" smtClean="0"/>
              <a:t>17.06.2026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9012EE5-D3BE-C160-D174-DAA7E316B8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9A83FD08-C592-6DF7-B621-C6CF7E8508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F8A10E-8FBC-4EF6-A397-1FC8CF895F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637006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C77DDE5-CCA7-4A9D-FF92-82ABC0925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428D8328-D527-FF54-BD19-31A1D13DF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C173D-B0B2-4EB1-9B71-17C25D91B766}" type="datetimeFigureOut">
              <a:rPr lang="ru-RU" smtClean="0"/>
              <a:t>17.06.2026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5A086C8-DA08-1A1B-1F7C-DE35325C3C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A81890A-BA97-F5AA-F3FA-FB04D5B74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F8A10E-8FBC-4EF6-A397-1FC8CF895F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72425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78C4F1CE-819C-224F-C9EB-60AF3FD4C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C173D-B0B2-4EB1-9B71-17C25D91B766}" type="datetimeFigureOut">
              <a:rPr lang="ru-RU" smtClean="0"/>
              <a:t>17.06.2026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858F592E-D28F-F383-C896-10E836AF5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DD41389-F107-D778-4223-BFA298DE8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F8A10E-8FBC-4EF6-A397-1FC8CF895F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496377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0335B5-B43C-719A-25F4-734E5A90BA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33A70E8-8753-0E44-CE7D-35A2A06497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22E205A-FEE8-DB57-DB0A-53E5758F68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76BED4F-CC2F-567F-839C-7C50B6433B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C173D-B0B2-4EB1-9B71-17C25D91B766}" type="datetimeFigureOut">
              <a:rPr lang="ru-RU" smtClean="0"/>
              <a:t>17.06.2026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7D8FE49-931C-E2C4-2E65-5013760760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EF355E0-6CC4-A8A3-94E7-9573C009C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F8A10E-8FBC-4EF6-A397-1FC8CF895F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559794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A8457F9-AD55-A496-84C5-A76BC09AAD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F15230F7-A4A8-29D2-A2AD-DAF8D7A3A1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35F1A92-0FBF-FF0B-4897-D3F2C40634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D500BF9-6A44-5BD9-304B-FDA540FD90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C173D-B0B2-4EB1-9B71-17C25D91B766}" type="datetimeFigureOut">
              <a:rPr lang="ru-RU" smtClean="0"/>
              <a:t>17.06.2026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409624B-99C3-9050-94C9-1216A8B33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E143CDE-A3E1-5A60-1AAE-D3337CFC4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F8A10E-8FBC-4EF6-A397-1FC8CF895F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446032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73CC05-ECCB-037E-1B41-DFD7FEB35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0C64C42-09FF-12FE-9884-DAD8760B16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2F83269-784F-015C-0E16-B2A99D21B2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C173D-B0B2-4EB1-9B71-17C25D91B766}" type="datetimeFigureOut">
              <a:rPr lang="ru-RU" smtClean="0"/>
              <a:t>17.06.2026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F1DF3CF-1EE9-5253-5356-0C122822E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AEE8BAA-5E21-88FE-E79C-CCC8A0899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F8A10E-8FBC-4EF6-A397-1FC8CF895F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508151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ABECF6DC-D71F-E07C-EBFC-528CF8E0A9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29DD3C9-5E3C-2DE3-1821-C750B99E20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C57CA8F-DD64-3B9A-B69E-633F21DCB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C173D-B0B2-4EB1-9B71-17C25D91B766}" type="datetimeFigureOut">
              <a:rPr lang="ru-RU" smtClean="0"/>
              <a:t>17.06.2026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B759575-DD9F-67BB-E4A8-533B91732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E2CA8DA-5993-FF99-5350-D3F0B109D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F8A10E-8FBC-4EF6-A397-1FC8CF895F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852481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173FD3-AB37-6F8F-112D-3300C66BA1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DB284C6-5C29-ECC3-AAEE-F90F91A8FA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04D5778-BEB5-57B8-39B4-8D98F13CC8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BC173D-B0B2-4EB1-9B71-17C25D91B766}" type="datetimeFigureOut">
              <a:rPr lang="ru-RU" smtClean="0"/>
              <a:t>17.06.2026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36A608D-AD19-062E-C080-98076C368E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4409989-746F-21B7-71AC-5F3B5B667D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F8A10E-8FBC-4EF6-A397-1FC8CF895F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33909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BDDDCA-D69C-3BF3-C53F-6E94F91968F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sz="4400" dirty="0"/>
              <a:t>Разработка консольного приложения «Movie </a:t>
            </a:r>
            <a:r>
              <a:rPr lang="ru-RU" sz="4400" dirty="0" err="1"/>
              <a:t>Tracker</a:t>
            </a:r>
            <a:r>
              <a:rPr lang="ru-RU" sz="4400" dirty="0"/>
              <a:t>» для управления персональной коллекцией фильмов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D8A3BD1-A1C6-0BE5-BEB7-D74CF8E4EF5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Студент: Дорошенко Б.О.</a:t>
            </a:r>
          </a:p>
          <a:p>
            <a:r>
              <a:rPr lang="ru-RU" dirty="0"/>
              <a:t>Группа: 01-24 ИСИП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714579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B0C840-4F90-F5F2-450D-E8AD684358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86DE57-2F4E-EF81-3411-2574829609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0"/>
            <a:ext cx="9144000" cy="1561202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Актуальность и цель проекта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BE80D58-2685-0084-4406-93F576814D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95400" y="2077279"/>
            <a:ext cx="10472530" cy="3518452"/>
          </a:xfrm>
        </p:spPr>
        <p:txBody>
          <a:bodyPr>
            <a:normAutofit lnSpcReduction="10000"/>
          </a:bodyPr>
          <a:lstStyle/>
          <a:p>
            <a:r>
              <a:rPr lang="ru-RU" b="1" dirty="0"/>
              <a:t>Актуальность:</a:t>
            </a:r>
            <a:endParaRPr lang="ru-RU" dirty="0"/>
          </a:p>
          <a:p>
            <a:r>
              <a:rPr lang="ru-RU" dirty="0"/>
              <a:t>Большинство существующих решений требуют интернета, регистрации и содержат избыточный функционал</a:t>
            </a:r>
          </a:p>
          <a:p>
            <a:r>
              <a:rPr lang="ru-RU" dirty="0"/>
              <a:t>Пользователю нужен легковесный, автономный инструмент для трекинга фильмов</a:t>
            </a:r>
          </a:p>
          <a:p>
            <a:r>
              <a:rPr lang="ru-RU" b="1" dirty="0"/>
              <a:t>Цель проекта:</a:t>
            </a:r>
            <a:endParaRPr lang="ru-RU" dirty="0"/>
          </a:p>
          <a:p>
            <a:r>
              <a:rPr lang="ru-RU" dirty="0"/>
              <a:t>Разработать консольное приложение «Movie </a:t>
            </a:r>
            <a:r>
              <a:rPr lang="ru-RU" dirty="0" err="1"/>
              <a:t>Tracker</a:t>
            </a:r>
            <a:r>
              <a:rPr lang="ru-RU" dirty="0"/>
              <a:t>» на JavaScript (Node.js), позволяющее эффективно управлять коллекцией фильмов через интерфейс командной строки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545796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D4CD64-F727-5CDD-C69F-87F2A71932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4B4AE4-B431-998C-3B03-7E60D76602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27383"/>
            <a:ext cx="9144000" cy="1361661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Задачи проекта</a:t>
            </a:r>
            <a:br>
              <a:rPr lang="ru-RU" b="1" dirty="0"/>
            </a:br>
            <a:endParaRPr lang="ru-RU" b="1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61CE8DF-3211-DC79-7024-FE9EDDFACB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95400" y="2077279"/>
            <a:ext cx="10472530" cy="3518452"/>
          </a:xfrm>
        </p:spPr>
        <p:txBody>
          <a:bodyPr>
            <a:normAutofit lnSpcReduction="10000"/>
          </a:bodyPr>
          <a:lstStyle/>
          <a:p>
            <a:pPr marL="457200" indent="-457200" algn="l">
              <a:buFont typeface="+mj-lt"/>
              <a:buAutoNum type="arabicPeriod"/>
            </a:pPr>
            <a:r>
              <a:rPr lang="ru-RU" dirty="0"/>
              <a:t>Проанализировать предметную область и существующие аналоги</a:t>
            </a:r>
          </a:p>
          <a:p>
            <a:pPr marL="457200" indent="-457200" algn="l">
              <a:buFont typeface="+mj-lt"/>
              <a:buAutoNum type="arabicPeriod"/>
            </a:pPr>
            <a:r>
              <a:rPr lang="ru-RU" dirty="0"/>
              <a:t>Сформулировать функциональные и нефункциональные требования</a:t>
            </a:r>
          </a:p>
          <a:p>
            <a:pPr marL="457200" indent="-457200" algn="l">
              <a:buFont typeface="+mj-lt"/>
              <a:buAutoNum type="arabicPeriod"/>
            </a:pPr>
            <a:r>
              <a:rPr lang="ru-RU" dirty="0"/>
              <a:t>Спроектировать объектную модель данных (фильм)</a:t>
            </a:r>
          </a:p>
          <a:p>
            <a:pPr marL="457200" indent="-457200" algn="l">
              <a:buFont typeface="+mj-lt"/>
              <a:buAutoNum type="arabicPeriod"/>
            </a:pPr>
            <a:r>
              <a:rPr lang="ru-RU" dirty="0"/>
              <a:t>Реализовать базовый функционал CRUD-операций для фильмов</a:t>
            </a:r>
          </a:p>
          <a:p>
            <a:pPr marL="457200" indent="-457200" algn="l">
              <a:buFont typeface="+mj-lt"/>
              <a:buAutoNum type="arabicPeriod"/>
            </a:pPr>
            <a:r>
              <a:rPr lang="ru-RU" dirty="0"/>
              <a:t>Разработать дополнительную логику (оценка фильмов, </a:t>
            </a:r>
            <a:r>
              <a:rPr lang="ru-RU" dirty="0" err="1"/>
              <a:t>wishlist</a:t>
            </a:r>
            <a:r>
              <a:rPr lang="ru-RU" dirty="0"/>
              <a:t>)</a:t>
            </a:r>
          </a:p>
          <a:p>
            <a:pPr marL="457200" indent="-457200" algn="l">
              <a:buFont typeface="+mj-lt"/>
              <a:buAutoNum type="arabicPeriod"/>
            </a:pPr>
            <a:r>
              <a:rPr lang="ru-RU" dirty="0"/>
              <a:t>Создать пользовательский интерфейс с навигацией по меню</a:t>
            </a:r>
          </a:p>
          <a:p>
            <a:pPr marL="457200" indent="-457200" algn="l">
              <a:buFont typeface="+mj-lt"/>
              <a:buAutoNum type="arabicPeriod"/>
            </a:pPr>
            <a:r>
              <a:rPr lang="ru-RU" dirty="0"/>
              <a:t>Реализовать модуль асинхронного ввода/вывода на основе </a:t>
            </a:r>
            <a:r>
              <a:rPr lang="ru-RU" dirty="0" err="1"/>
              <a:t>readline</a:t>
            </a:r>
            <a:endParaRPr lang="ru-RU" dirty="0"/>
          </a:p>
          <a:p>
            <a:pPr marL="457200" indent="-457200" algn="l">
              <a:buFont typeface="+mj-lt"/>
              <a:buAutoNum type="arabicPeriod"/>
            </a:pPr>
            <a:r>
              <a:rPr lang="ru-RU" dirty="0"/>
              <a:t>Провести комплексное тестирование и отладку приложения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102436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86DAAE-30F4-6527-BDD3-C9BA563948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4CF56EA-F916-A682-9A13-14D5E59D75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27383"/>
            <a:ext cx="9144000" cy="1361661"/>
          </a:xfrm>
        </p:spPr>
        <p:txBody>
          <a:bodyPr>
            <a:noAutofit/>
          </a:bodyPr>
          <a:lstStyle/>
          <a:p>
            <a:r>
              <a:rPr lang="ru-RU" sz="4000" b="1" dirty="0"/>
              <a:t>Технологический стек и проектирование архитектуры</a:t>
            </a:r>
            <a:br>
              <a:rPr lang="ru-RU" sz="4000" b="1" dirty="0"/>
            </a:br>
            <a:endParaRPr lang="ru-RU" sz="4000" b="1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95D9C30-FA86-9F5F-AEDA-9B11D2A4ED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2183295" y="2604053"/>
            <a:ext cx="9697278" cy="2395330"/>
          </a:xfrm>
        </p:spPr>
        <p:txBody>
          <a:bodyPr>
            <a:normAutofit/>
          </a:bodyPr>
          <a:lstStyle/>
          <a:p>
            <a:r>
              <a:rPr lang="ru-RU" b="1" dirty="0"/>
              <a:t>Технологии:</a:t>
            </a:r>
            <a:endParaRPr lang="ru-RU" dirty="0"/>
          </a:p>
          <a:p>
            <a:r>
              <a:rPr lang="ru-RU" dirty="0"/>
              <a:t>Язык: JavaScript (ES6+)</a:t>
            </a:r>
          </a:p>
          <a:p>
            <a:r>
              <a:rPr lang="ru-RU" dirty="0"/>
              <a:t>Платформа: Node.js</a:t>
            </a:r>
          </a:p>
          <a:p>
            <a:r>
              <a:rPr lang="ru-RU" dirty="0"/>
              <a:t>Модули: </a:t>
            </a:r>
            <a:r>
              <a:rPr lang="ru-RU" dirty="0" err="1"/>
              <a:t>readline</a:t>
            </a:r>
            <a:r>
              <a:rPr lang="ru-RU" dirty="0"/>
              <a:t> (встроенный)</a:t>
            </a:r>
          </a:p>
          <a:p>
            <a:r>
              <a:rPr lang="ru-RU" dirty="0"/>
              <a:t>Инструменты: VS Code, </a:t>
            </a:r>
            <a:r>
              <a:rPr lang="ru-RU" dirty="0" err="1"/>
              <a:t>Git</a:t>
            </a:r>
            <a:endParaRPr lang="ru-RU" dirty="0"/>
          </a:p>
        </p:txBody>
      </p:sp>
      <p:graphicFrame>
        <p:nvGraphicFramePr>
          <p:cNvPr id="8" name="Таблица 7">
            <a:extLst>
              <a:ext uri="{FF2B5EF4-FFF2-40B4-BE49-F238E27FC236}">
                <a16:creationId xmlns:a16="http://schemas.microsoft.com/office/drawing/2014/main" id="{AB934DDA-152E-D3CC-BF7C-250FAD4343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5427089"/>
              </p:ext>
            </p:extLst>
          </p:nvPr>
        </p:nvGraphicFramePr>
        <p:xfrm>
          <a:off x="4904133" y="2785718"/>
          <a:ext cx="5219700" cy="2032000"/>
        </p:xfrm>
        <a:graphic>
          <a:graphicData uri="http://schemas.openxmlformats.org/drawingml/2006/table">
            <a:tbl>
              <a:tblPr/>
              <a:tblGrid>
                <a:gridCol w="2609850">
                  <a:extLst>
                    <a:ext uri="{9D8B030D-6E8A-4147-A177-3AD203B41FA5}">
                      <a16:colId xmlns:a16="http://schemas.microsoft.com/office/drawing/2014/main" val="3787250285"/>
                    </a:ext>
                  </a:extLst>
                </a:gridCol>
                <a:gridCol w="2609850">
                  <a:extLst>
                    <a:ext uri="{9D8B030D-6E8A-4147-A177-3AD203B41FA5}">
                      <a16:colId xmlns:a16="http://schemas.microsoft.com/office/drawing/2014/main" val="47560778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1" dirty="0">
                          <a:effectLst/>
                          <a:latin typeface="quote-cjk-patch"/>
                        </a:rPr>
                        <a:t>Model (данные)</a:t>
                      </a:r>
                      <a:endParaRPr lang="ru-RU" b="0" dirty="0">
                        <a:effectLst/>
                        <a:latin typeface="quote-cjk-patch"/>
                      </a:endParaRPr>
                    </a:p>
                  </a:txBody>
                  <a:tcPr marR="7620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ru-RU" b="0" dirty="0">
                          <a:effectLst/>
                          <a:latin typeface="quote-cjk-patch"/>
                        </a:rPr>
                        <a:t>Массив </a:t>
                      </a:r>
                      <a:r>
                        <a:rPr lang="ru-RU" b="0" dirty="0" err="1">
                          <a:effectLst/>
                          <a:latin typeface="Menlo"/>
                        </a:rPr>
                        <a:t>movies</a:t>
                      </a:r>
                      <a:r>
                        <a:rPr lang="ru-RU" b="0" dirty="0">
                          <a:effectLst/>
                          <a:latin typeface="quote-cjk-patch"/>
                        </a:rPr>
                        <a:t>, объект фильма</a:t>
                      </a:r>
                    </a:p>
                  </a:txBody>
                  <a:tcPr marL="7620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77914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1" dirty="0">
                          <a:effectLst/>
                          <a:latin typeface="quote-cjk-patch"/>
                        </a:rPr>
                        <a:t>View (интерфейс)</a:t>
                      </a:r>
                      <a:endParaRPr lang="ru-RU" b="0" dirty="0">
                        <a:effectLst/>
                        <a:latin typeface="quote-cjk-patch"/>
                      </a:endParaRPr>
                    </a:p>
                  </a:txBody>
                  <a:tcPr marR="7620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ru-RU" b="0" dirty="0">
                          <a:effectLst/>
                          <a:latin typeface="quote-cjk-patch"/>
                        </a:rPr>
                        <a:t>Функции </a:t>
                      </a:r>
                      <a:r>
                        <a:rPr lang="ru-RU" b="0" dirty="0" err="1">
                          <a:effectLst/>
                          <a:latin typeface="Menlo"/>
                        </a:rPr>
                        <a:t>showMenu</a:t>
                      </a:r>
                      <a:r>
                        <a:rPr lang="ru-RU" b="0" dirty="0">
                          <a:effectLst/>
                          <a:latin typeface="Menlo"/>
                        </a:rPr>
                        <a:t>()</a:t>
                      </a:r>
                      <a:r>
                        <a:rPr lang="ru-RU" b="0" dirty="0">
                          <a:effectLst/>
                          <a:latin typeface="quote-cjk-patch"/>
                        </a:rPr>
                        <a:t>, </a:t>
                      </a:r>
                      <a:r>
                        <a:rPr lang="ru-RU" b="0" dirty="0" err="1">
                          <a:effectLst/>
                          <a:latin typeface="Menlo"/>
                        </a:rPr>
                        <a:t>showMovies</a:t>
                      </a:r>
                      <a:r>
                        <a:rPr lang="ru-RU" b="0" dirty="0">
                          <a:effectLst/>
                          <a:latin typeface="Menlo"/>
                        </a:rPr>
                        <a:t>()</a:t>
                      </a:r>
                      <a:r>
                        <a:rPr lang="ru-RU" b="0" dirty="0">
                          <a:effectLst/>
                          <a:latin typeface="quote-cjk-patch"/>
                        </a:rPr>
                        <a:t>, </a:t>
                      </a:r>
                      <a:r>
                        <a:rPr lang="ru-RU" b="0" dirty="0" err="1">
                          <a:effectLst/>
                          <a:latin typeface="Menlo"/>
                        </a:rPr>
                        <a:t>showWishlist</a:t>
                      </a:r>
                      <a:r>
                        <a:rPr lang="ru-RU" b="0" dirty="0">
                          <a:effectLst/>
                          <a:latin typeface="Menlo"/>
                        </a:rPr>
                        <a:t>()</a:t>
                      </a:r>
                      <a:endParaRPr lang="ru-RU" b="0" dirty="0">
                        <a:effectLst/>
                        <a:latin typeface="quote-cjk-patch"/>
                      </a:endParaRPr>
                    </a:p>
                  </a:txBody>
                  <a:tcPr marL="7620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17586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1" dirty="0" err="1">
                          <a:effectLst/>
                          <a:latin typeface="quote-cjk-patch"/>
                        </a:rPr>
                        <a:t>Controller</a:t>
                      </a:r>
                      <a:r>
                        <a:rPr lang="ru-RU" b="1" dirty="0">
                          <a:effectLst/>
                          <a:latin typeface="quote-cjk-patch"/>
                        </a:rPr>
                        <a:t> (логика)</a:t>
                      </a:r>
                      <a:endParaRPr lang="ru-RU" b="0" dirty="0">
                        <a:effectLst/>
                        <a:latin typeface="quote-cjk-patch"/>
                      </a:endParaRPr>
                    </a:p>
                  </a:txBody>
                  <a:tcPr marR="7620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ru-RU" b="0" dirty="0">
                          <a:effectLst/>
                          <a:latin typeface="quote-cjk-patch"/>
                        </a:rPr>
                        <a:t>Функции </a:t>
                      </a:r>
                      <a:r>
                        <a:rPr lang="ru-RU" b="0" dirty="0" err="1">
                          <a:effectLst/>
                          <a:latin typeface="Menlo"/>
                        </a:rPr>
                        <a:t>addMovie</a:t>
                      </a:r>
                      <a:r>
                        <a:rPr lang="ru-RU" b="0" dirty="0">
                          <a:effectLst/>
                          <a:latin typeface="Menlo"/>
                        </a:rPr>
                        <a:t>()</a:t>
                      </a:r>
                      <a:r>
                        <a:rPr lang="ru-RU" b="0" dirty="0">
                          <a:effectLst/>
                          <a:latin typeface="quote-cjk-patch"/>
                        </a:rPr>
                        <a:t>, </a:t>
                      </a:r>
                      <a:r>
                        <a:rPr lang="ru-RU" b="0" dirty="0" err="1">
                          <a:effectLst/>
                          <a:latin typeface="Menlo"/>
                        </a:rPr>
                        <a:t>markAsWatched</a:t>
                      </a:r>
                      <a:r>
                        <a:rPr lang="ru-RU" b="0" dirty="0">
                          <a:effectLst/>
                          <a:latin typeface="Menlo"/>
                        </a:rPr>
                        <a:t>()</a:t>
                      </a:r>
                      <a:r>
                        <a:rPr lang="ru-RU" b="0" dirty="0">
                          <a:effectLst/>
                          <a:latin typeface="quote-cjk-patch"/>
                        </a:rPr>
                        <a:t>, </a:t>
                      </a:r>
                      <a:r>
                        <a:rPr lang="ru-RU" b="0" dirty="0" err="1">
                          <a:effectLst/>
                          <a:latin typeface="Menlo"/>
                        </a:rPr>
                        <a:t>rateMovie</a:t>
                      </a:r>
                      <a:r>
                        <a:rPr lang="ru-RU" b="0" dirty="0">
                          <a:effectLst/>
                          <a:latin typeface="Menlo"/>
                        </a:rPr>
                        <a:t>()</a:t>
                      </a:r>
                      <a:endParaRPr lang="ru-RU" b="0" dirty="0">
                        <a:effectLst/>
                        <a:latin typeface="quote-cjk-patch"/>
                      </a:endParaRPr>
                    </a:p>
                  </a:txBody>
                  <a:tcPr marL="7620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16756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464095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17791A-D6C5-EFE7-AFF9-1B5C17AB14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35FA7AE-6165-FBB8-BE11-AA16E267A7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27383"/>
            <a:ext cx="9144000" cy="1361661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Операции управления данными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1DBFCFE-AF82-2FEA-63B1-DBCA945E1C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95400" y="2077279"/>
            <a:ext cx="10472530" cy="3518452"/>
          </a:xfrm>
        </p:spPr>
        <p:txBody>
          <a:bodyPr>
            <a:normAutofit/>
          </a:bodyPr>
          <a:lstStyle/>
          <a:p>
            <a:endParaRPr lang="ru-RU" dirty="0"/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AE304BBC-043E-2CA3-D086-EB7B9B249D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7825297"/>
              </p:ext>
            </p:extLst>
          </p:nvPr>
        </p:nvGraphicFramePr>
        <p:xfrm>
          <a:off x="1093305" y="1723924"/>
          <a:ext cx="10207488" cy="4351338"/>
        </p:xfrm>
        <a:graphic>
          <a:graphicData uri="http://schemas.openxmlformats.org/drawingml/2006/table">
            <a:tbl>
              <a:tblPr/>
              <a:tblGrid>
                <a:gridCol w="3402496">
                  <a:extLst>
                    <a:ext uri="{9D8B030D-6E8A-4147-A177-3AD203B41FA5}">
                      <a16:colId xmlns:a16="http://schemas.microsoft.com/office/drawing/2014/main" val="1445049865"/>
                    </a:ext>
                  </a:extLst>
                </a:gridCol>
                <a:gridCol w="3402496">
                  <a:extLst>
                    <a:ext uri="{9D8B030D-6E8A-4147-A177-3AD203B41FA5}">
                      <a16:colId xmlns:a16="http://schemas.microsoft.com/office/drawing/2014/main" val="1207029155"/>
                    </a:ext>
                  </a:extLst>
                </a:gridCol>
                <a:gridCol w="3402496">
                  <a:extLst>
                    <a:ext uri="{9D8B030D-6E8A-4147-A177-3AD203B41FA5}">
                      <a16:colId xmlns:a16="http://schemas.microsoft.com/office/drawing/2014/main" val="2784029284"/>
                    </a:ext>
                  </a:extLst>
                </a:gridCol>
              </a:tblGrid>
              <a:tr h="549198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700" b="0" dirty="0">
                          <a:effectLst/>
                          <a:latin typeface="quote-cjk-patch"/>
                        </a:rPr>
                        <a:t>Операция</a:t>
                      </a:r>
                    </a:p>
                  </a:txBody>
                  <a:tcPr marL="86906" marR="72422" marT="45264" marB="4526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700" b="0">
                          <a:effectLst/>
                          <a:latin typeface="quote-cjk-patch"/>
                        </a:rPr>
                        <a:t>Функция</a:t>
                      </a:r>
                    </a:p>
                  </a:txBody>
                  <a:tcPr marL="72422" marR="72422" marT="45264" marB="4526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700" b="0">
                          <a:effectLst/>
                          <a:latin typeface="quote-cjk-patch"/>
                        </a:rPr>
                        <a:t>Назначение</a:t>
                      </a:r>
                    </a:p>
                  </a:txBody>
                  <a:tcPr marL="72422" marR="72422" marT="45264" marB="4526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2839459"/>
                  </a:ext>
                </a:extLst>
              </a:tr>
              <a:tr h="1007869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700" b="1" dirty="0" err="1">
                          <a:effectLst/>
                          <a:latin typeface="quote-cjk-patch"/>
                        </a:rPr>
                        <a:t>Create</a:t>
                      </a:r>
                      <a:endParaRPr lang="ru-RU" sz="1700" b="0" dirty="0">
                        <a:effectLst/>
                        <a:latin typeface="quote-cjk-patch"/>
                      </a:endParaRPr>
                    </a:p>
                  </a:txBody>
                  <a:tcPr marL="86906" marR="72422" marT="45264" marB="4526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ru-RU" sz="1700" b="0" dirty="0" err="1">
                          <a:effectLst/>
                          <a:latin typeface="Menlo"/>
                        </a:rPr>
                        <a:t>addMovie</a:t>
                      </a:r>
                      <a:r>
                        <a:rPr lang="ru-RU" sz="1700" b="0" dirty="0">
                          <a:effectLst/>
                          <a:latin typeface="Menlo"/>
                        </a:rPr>
                        <a:t>(</a:t>
                      </a:r>
                      <a:r>
                        <a:rPr lang="ru-RU" sz="1700" b="0" dirty="0" err="1">
                          <a:effectLst/>
                          <a:latin typeface="Menlo"/>
                        </a:rPr>
                        <a:t>title</a:t>
                      </a:r>
                      <a:r>
                        <a:rPr lang="ru-RU" sz="1700" b="0" dirty="0">
                          <a:effectLst/>
                          <a:latin typeface="Menlo"/>
                        </a:rPr>
                        <a:t>)</a:t>
                      </a:r>
                      <a:endParaRPr lang="ru-RU" sz="1700" b="0" dirty="0">
                        <a:effectLst/>
                        <a:latin typeface="quote-cjk-patch"/>
                      </a:endParaRPr>
                    </a:p>
                  </a:txBody>
                  <a:tcPr marL="72422" marR="72422" marT="45264" marB="4526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700" b="0">
                          <a:effectLst/>
                          <a:latin typeface="quote-cjk-patch"/>
                        </a:rPr>
                        <a:t>Добавление нового фильма</a:t>
                      </a:r>
                    </a:p>
                  </a:txBody>
                  <a:tcPr marL="72422" marR="86906" marT="45264" marB="4526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3895814"/>
                  </a:ext>
                </a:extLst>
              </a:tr>
              <a:tr h="1007869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700" b="1">
                          <a:effectLst/>
                          <a:latin typeface="quote-cjk-patch"/>
                        </a:rPr>
                        <a:t>Read</a:t>
                      </a:r>
                      <a:endParaRPr lang="ru-RU" sz="1700" b="0">
                        <a:effectLst/>
                        <a:latin typeface="quote-cjk-patch"/>
                      </a:endParaRPr>
                    </a:p>
                  </a:txBody>
                  <a:tcPr marL="86906" marR="72422" marT="45264" marB="4526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ru-RU" sz="1700" b="0" dirty="0" err="1">
                          <a:effectLst/>
                          <a:latin typeface="Menlo"/>
                        </a:rPr>
                        <a:t>showMovies</a:t>
                      </a:r>
                      <a:r>
                        <a:rPr lang="ru-RU" sz="1700" b="0" dirty="0">
                          <a:effectLst/>
                          <a:latin typeface="Menlo"/>
                        </a:rPr>
                        <a:t>()</a:t>
                      </a:r>
                      <a:endParaRPr lang="ru-RU" sz="1700" b="0" dirty="0">
                        <a:effectLst/>
                        <a:latin typeface="quote-cjk-patch"/>
                      </a:endParaRPr>
                    </a:p>
                  </a:txBody>
                  <a:tcPr marL="72422" marR="72422" marT="45264" marB="4526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700" b="0" dirty="0">
                          <a:effectLst/>
                          <a:latin typeface="quote-cjk-patch"/>
                        </a:rPr>
                        <a:t>Просмотр всех фильмов</a:t>
                      </a:r>
                    </a:p>
                  </a:txBody>
                  <a:tcPr marL="72422" marR="86906" marT="45264" marB="4526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7020701"/>
                  </a:ext>
                </a:extLst>
              </a:tr>
              <a:tr h="1007869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700" b="1">
                          <a:effectLst/>
                          <a:latin typeface="quote-cjk-patch"/>
                        </a:rPr>
                        <a:t>Update</a:t>
                      </a:r>
                      <a:endParaRPr lang="ru-RU" sz="1700" b="0">
                        <a:effectLst/>
                        <a:latin typeface="quote-cjk-patch"/>
                      </a:endParaRPr>
                    </a:p>
                  </a:txBody>
                  <a:tcPr marL="86906" marR="72422" marT="45264" marB="4526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ru-RU" sz="1700" b="0">
                          <a:effectLst/>
                          <a:latin typeface="Menlo"/>
                        </a:rPr>
                        <a:t>markAsWatched(title)</a:t>
                      </a:r>
                      <a:endParaRPr lang="ru-RU" sz="1700" b="0">
                        <a:effectLst/>
                        <a:latin typeface="quote-cjk-patch"/>
                      </a:endParaRPr>
                    </a:p>
                  </a:txBody>
                  <a:tcPr marL="72422" marR="72422" marT="45264" marB="4526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700" b="0" dirty="0">
                          <a:effectLst/>
                          <a:latin typeface="quote-cjk-patch"/>
                        </a:rPr>
                        <a:t>Отметка о просмотре</a:t>
                      </a:r>
                    </a:p>
                  </a:txBody>
                  <a:tcPr marL="72422" marR="86906" marT="45264" marB="4526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4310712"/>
                  </a:ext>
                </a:extLst>
              </a:tr>
              <a:tr h="778533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700" b="1">
                          <a:effectLst/>
                          <a:latin typeface="quote-cjk-patch"/>
                        </a:rPr>
                        <a:t>Update</a:t>
                      </a:r>
                      <a:endParaRPr lang="ru-RU" sz="1700" b="0">
                        <a:effectLst/>
                        <a:latin typeface="quote-cjk-patch"/>
                      </a:endParaRPr>
                    </a:p>
                  </a:txBody>
                  <a:tcPr marL="86906" marR="72422" marT="45264" marB="4526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ru-RU" sz="1700" b="0">
                          <a:effectLst/>
                          <a:latin typeface="Menlo"/>
                        </a:rPr>
                        <a:t>rateMovie(title, rating)</a:t>
                      </a:r>
                      <a:endParaRPr lang="ru-RU" sz="1700" b="0">
                        <a:effectLst/>
                        <a:latin typeface="quote-cjk-patch"/>
                      </a:endParaRPr>
                    </a:p>
                  </a:txBody>
                  <a:tcPr marL="72422" marR="72422" marT="45264" marB="4526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700" b="0" dirty="0">
                          <a:effectLst/>
                          <a:latin typeface="quote-cjk-patch"/>
                        </a:rPr>
                        <a:t>Выставление оценки</a:t>
                      </a:r>
                    </a:p>
                  </a:txBody>
                  <a:tcPr marL="72422" marR="86906" marT="45264" marB="4526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88319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897969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757165-B3AE-53D8-528D-020EA9D386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48DBA07-3E12-C9F5-7CCC-97AA61A92B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99592"/>
            <a:ext cx="9144000" cy="1361661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Реализация бизнес-логики и пользовательского интерфейса</a:t>
            </a:r>
            <a:br>
              <a:rPr lang="ru-RU" b="1" dirty="0"/>
            </a:br>
            <a:br>
              <a:rPr lang="ru-RU" b="1" dirty="0"/>
            </a:br>
            <a:endParaRPr lang="ru-RU" b="1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1F19539-AE68-77D6-1540-6ABC0A1221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9904" y="1699592"/>
            <a:ext cx="11376991" cy="4552121"/>
          </a:xfrm>
        </p:spPr>
        <p:txBody>
          <a:bodyPr>
            <a:normAutofit fontScale="32500" lnSpcReduction="20000"/>
          </a:bodyPr>
          <a:lstStyle/>
          <a:p>
            <a:pPr algn="l"/>
            <a:r>
              <a:rPr lang="ru-RU" sz="6200" b="1" dirty="0"/>
              <a:t>Дополнительная логика:</a:t>
            </a:r>
            <a:endParaRPr lang="ru-RU" sz="6200" dirty="0"/>
          </a:p>
          <a:p>
            <a:pPr algn="l"/>
            <a:r>
              <a:rPr lang="ru-RU" sz="6200" b="1" dirty="0" err="1"/>
              <a:t>Wishlist</a:t>
            </a:r>
            <a:r>
              <a:rPr lang="ru-RU" sz="6200" b="1" dirty="0"/>
              <a:t>:</a:t>
            </a:r>
            <a:r>
              <a:rPr lang="ru-RU" sz="6200" dirty="0"/>
              <a:t> Функции </a:t>
            </a:r>
            <a:r>
              <a:rPr lang="ru-RU" sz="6200" dirty="0" err="1"/>
              <a:t>addToWishlist</a:t>
            </a:r>
            <a:r>
              <a:rPr lang="ru-RU" sz="6200" dirty="0"/>
              <a:t>() и </a:t>
            </a:r>
            <a:r>
              <a:rPr lang="ru-RU" sz="6200" dirty="0" err="1"/>
              <a:t>showWishlist</a:t>
            </a:r>
            <a:r>
              <a:rPr lang="ru-RU" sz="6200" dirty="0"/>
              <a:t>() с фильтрацией массива</a:t>
            </a:r>
          </a:p>
          <a:p>
            <a:pPr algn="l"/>
            <a:r>
              <a:rPr lang="ru-RU" sz="6200" b="1" dirty="0"/>
              <a:t>Валидация:</a:t>
            </a:r>
            <a:r>
              <a:rPr lang="ru-RU" sz="6200" dirty="0"/>
              <a:t> Проверка пустого названия, диапазона оценки (1-5), существования фильма</a:t>
            </a:r>
          </a:p>
          <a:p>
            <a:pPr algn="l"/>
            <a:r>
              <a:rPr lang="ru-RU" sz="6200" b="1" dirty="0"/>
              <a:t>Обработка ошибок:</a:t>
            </a:r>
            <a:endParaRPr lang="ru-RU" sz="6200" dirty="0"/>
          </a:p>
          <a:p>
            <a:pPr algn="l"/>
            <a:r>
              <a:rPr lang="ru-RU" sz="6200" dirty="0"/>
              <a:t>Фильм не найден → сообщение об ошибке</a:t>
            </a:r>
          </a:p>
          <a:p>
            <a:pPr algn="l"/>
            <a:r>
              <a:rPr lang="ru-RU" sz="6200" dirty="0"/>
              <a:t>Неверный ввод оценки → запрос повторного ввода</a:t>
            </a:r>
          </a:p>
          <a:p>
            <a:pPr algn="l"/>
            <a:r>
              <a:rPr lang="ru-RU" sz="6200" dirty="0"/>
              <a:t>Пустое название → отклонение операции</a:t>
            </a:r>
          </a:p>
          <a:p>
            <a:pPr algn="l"/>
            <a:r>
              <a:rPr lang="ru-RU" sz="6200" b="1" dirty="0"/>
              <a:t>Пользовательский интерфейс:</a:t>
            </a:r>
            <a:endParaRPr lang="ru-RU" sz="6200" dirty="0"/>
          </a:p>
          <a:p>
            <a:pPr algn="l"/>
            <a:r>
              <a:rPr lang="ru-RU" sz="6200" dirty="0"/>
              <a:t>Меню из 7 пунктов</a:t>
            </a:r>
          </a:p>
          <a:p>
            <a:pPr algn="l"/>
            <a:r>
              <a:rPr lang="ru-RU" sz="6200" dirty="0"/>
              <a:t>Асинхронный ввод через </a:t>
            </a:r>
            <a:r>
              <a:rPr lang="ru-RU" sz="6200" dirty="0" err="1"/>
              <a:t>readline</a:t>
            </a:r>
            <a:r>
              <a:rPr lang="ru-RU" sz="6200" dirty="0"/>
              <a:t> + </a:t>
            </a:r>
            <a:r>
              <a:rPr lang="ru-RU" sz="6200" dirty="0" err="1"/>
              <a:t>Promise</a:t>
            </a:r>
            <a:endParaRPr lang="ru-RU" sz="6200" dirty="0"/>
          </a:p>
          <a:p>
            <a:pPr algn="l"/>
            <a:r>
              <a:rPr lang="ru-RU" sz="6200" dirty="0"/>
              <a:t>Эмодзи-индикаторы (✅ ⭐ 📭) для улучшения UX</a:t>
            </a:r>
          </a:p>
          <a:p>
            <a:pPr algn="l"/>
            <a:r>
              <a:rPr lang="ru-RU" sz="6200" dirty="0"/>
              <a:t>Пауза после каждого действия (нажмите Enter)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73485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EDD358-D476-6BCE-6BBD-E47D183722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37C549-B07B-7CF7-2FF9-110E0A747B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27383"/>
            <a:ext cx="9144000" cy="1361661"/>
          </a:xfrm>
        </p:spPr>
        <p:txBody>
          <a:bodyPr>
            <a:normAutofit/>
          </a:bodyPr>
          <a:lstStyle/>
          <a:p>
            <a:r>
              <a:rPr lang="ru-RU" b="1" dirty="0"/>
              <a:t>Результат работы и выводы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32B2208-0CFA-63FC-82BD-23A64415D6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1235" y="2605080"/>
            <a:ext cx="4076504" cy="3117326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66E249E-22B7-5BEE-18E3-9E6313A0E8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4263" y="3154085"/>
            <a:ext cx="3981479" cy="2019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27461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322</Words>
  <Application>Microsoft Office PowerPoint</Application>
  <PresentationFormat>Широкоэкранный</PresentationFormat>
  <Paragraphs>60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3" baseType="lpstr">
      <vt:lpstr>Arial</vt:lpstr>
      <vt:lpstr>Calibri</vt:lpstr>
      <vt:lpstr>Calibri Light</vt:lpstr>
      <vt:lpstr>Menlo</vt:lpstr>
      <vt:lpstr>quote-cjk-patch</vt:lpstr>
      <vt:lpstr>Тема Office</vt:lpstr>
      <vt:lpstr>Разработка консольного приложения «Movie Tracker» для управления персональной коллекцией фильмов</vt:lpstr>
      <vt:lpstr>Актуальность и цель проекта</vt:lpstr>
      <vt:lpstr>Задачи проекта </vt:lpstr>
      <vt:lpstr>Технологический стек и проектирование архитектуры </vt:lpstr>
      <vt:lpstr>Операции управления данными</vt:lpstr>
      <vt:lpstr>Реализация бизнес-логики и пользовательского интерфейса  </vt:lpstr>
      <vt:lpstr>Результат работы и выводы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Богдан Дорошенко</dc:creator>
  <cp:lastModifiedBy>Богдан Дорошенко</cp:lastModifiedBy>
  <cp:revision>1</cp:revision>
  <dcterms:created xsi:type="dcterms:W3CDTF">2026-06-04T20:55:36Z</dcterms:created>
  <dcterms:modified xsi:type="dcterms:W3CDTF">2026-06-17T10:59:37Z</dcterms:modified>
</cp:coreProperties>
</file>